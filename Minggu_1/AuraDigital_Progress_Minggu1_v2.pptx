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6366F1">
              <a:alpha val="13000"/>
            </a:srgbClr>
          </a:solidFill>
          <a:ln w="12700">
            <a:solidFill>
              <a:srgbClr val="6366F1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F43F5E">
              <a:alpha val="13000"/>
            </a:srgbClr>
          </a:solidFill>
          <a:ln w="12700">
            <a:solidFill>
              <a:srgbClr val="F43F5E">
                <a:alpha val="1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64008" cy="24688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801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DIGITAL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13232" y="2176272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"Akses Premium, Instan &amp; Elegan."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269748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Progress Minggu ke-1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13232" y="3200400"/>
            <a:ext cx="502920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33101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 E-Business  •  Kelompok  •  2025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" y="3840480"/>
            <a:ext cx="1828800" cy="34747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8404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FASE 1 — PERENCANAAN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160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64008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1024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1832" y="1078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Latar Belakang &amp; Masalah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60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64008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9744" y="1024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85232" y="107899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Tentang Proyek Aura Digital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719072"/>
            <a:ext cx="4160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719072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1828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5CF6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1832" y="18836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Identitas Brand &amp; Visual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63440" y="1719072"/>
            <a:ext cx="4160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719072"/>
            <a:ext cx="6400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9744" y="1828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04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85232" y="188366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Perkenalan Tim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2523744"/>
            <a:ext cx="4160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523744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" y="2633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05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41832" y="26883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Katalog Produk Digital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2523744"/>
            <a:ext cx="4160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523744"/>
            <a:ext cx="6400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26334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285232" y="268833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 Pasar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3328416"/>
            <a:ext cx="4160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328416"/>
            <a:ext cx="64008" cy="65836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" y="34381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366F1"/>
                </a:solidFill>
              </a:rPr>
              <a:t>07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41832" y="34930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 Model Canvas (BMC)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663440" y="3328416"/>
            <a:ext cx="4160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3328416"/>
            <a:ext cx="64008" cy="6583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343814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</a:rPr>
              <a:t>08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85232" y="349300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Analisis Kompetitor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0040" y="4133088"/>
            <a:ext cx="4160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" y="4133088"/>
            <a:ext cx="64008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" y="42428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</a:rPr>
              <a:t>09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41832" y="42976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Arsitektur &amp; Tech Stack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663440" y="4133088"/>
            <a:ext cx="4160520" cy="6583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4133088"/>
            <a:ext cx="6400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9744" y="42428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10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5285232" y="42976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Rencana Minggu ke-2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Latar Belakang &amp; Masalah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</a:rPr>
              <a:t>Produk digital premium makin dibutuhkan, tapi pengalaman belinya masih primitif.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148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08760"/>
            <a:ext cx="64008" cy="13258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" y="1828800"/>
            <a:ext cx="685800" cy="685800"/>
          </a:xfrm>
          <a:prstGeom prst="ellipse">
            <a:avLst/>
          </a:prstGeom>
          <a:solidFill>
            <a:srgbClr val="F43F5E">
              <a:alpha val="22000"/>
            </a:srgbClr>
          </a:solidFill>
          <a:ln w="12700">
            <a:solidFill>
              <a:srgbClr val="F43F5E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25880" y="16184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Rawan Penipuan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98424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Banyak penjual 'gelap' di Instagram/Twitter yang menerima transfer manual lalu kabur setelah bayar.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41148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50876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828800"/>
            <a:ext cx="685800" cy="685800"/>
          </a:xfrm>
          <a:prstGeom prst="ellipse">
            <a:avLst/>
          </a:prstGeom>
          <a:solidFill>
            <a:srgbClr val="F59E0B">
              <a:alpha val="22000"/>
            </a:srgbClr>
          </a:solidFill>
          <a:ln w="12700">
            <a:solidFill>
              <a:srgbClr val="F59E0B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828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⏳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715000" y="16184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Pengiriman Lambat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715000" y="198424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User harus chat admin, nunggu dibalas, kadang berjam-jam — sangat tidak efisien di era serba cepat.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017520"/>
            <a:ext cx="41148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017520"/>
            <a:ext cx="64008" cy="13258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" y="3337560"/>
            <a:ext cx="685800" cy="68580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3337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🤮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31272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Antarmuka Tidak Menarik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49300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Marketplace besar terlalu ramai dan membingungkan, membuat calon pembeli tidak nyaman.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3017520"/>
            <a:ext cx="4114800" cy="1325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017520"/>
            <a:ext cx="64008" cy="13258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3337560"/>
            <a:ext cx="685800" cy="685800"/>
          </a:xfrm>
          <a:prstGeom prst="ellipse">
            <a:avLst/>
          </a:prstGeom>
          <a:solidFill>
            <a:srgbClr val="0891B2">
              <a:alpha val="22000"/>
            </a:srgbClr>
          </a:solidFill>
          <a:ln w="12700">
            <a:solidFill>
              <a:srgbClr val="0891B2">
                <a:alpha val="2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3337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715000" y="31272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Harga Tidak Transparan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15000" y="349300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Banyak biaya tersembunyi &amp; fee admin besar di marketplace yang mengurangi kepercayaan konsumen.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Tentang Proyek: Aura Digital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846320" cy="3931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0" y="-274320"/>
            <a:ext cx="2743200" cy="27432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6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 Digital?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4114800" cy="27432"/>
          </a:xfrm>
          <a:prstGeom prst="rect">
            <a:avLst/>
          </a:prstGeom>
          <a:solidFill>
            <a:srgbClr val="A5B4FC">
              <a:alpha val="50000"/>
            </a:srgbClr>
          </a:solidFill>
          <a:ln w="12700">
            <a:solidFill>
              <a:srgbClr val="A5B4FC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31720"/>
            <a:ext cx="4480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0E7FF"/>
                </a:solidFill>
              </a:rPr>
              <a:t>Aura Digital adalah platform e-commerce khusus produk digital yang menjual lisensi software dan sharing account premium dengan sistem pengiriman otomatis tanpa peran admin manusia.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0E7FF"/>
                </a:solidFill>
              </a:rPr>
              <a:t>Pengguna cukup bayar → kode/akses langsung muncul di dashboard dalam hitungan detik.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0" y="914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Info Proyek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0" y="1371600"/>
            <a:ext cx="33832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1371600"/>
            <a:ext cx="64008" cy="56692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50992" y="141732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Bidang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50992" y="16276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E-Commerce Produk Digital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2075688"/>
            <a:ext cx="33832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2075688"/>
            <a:ext cx="64008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21214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Model Bisnis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50992" y="23317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Digital Goods Reseller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0" y="2779776"/>
            <a:ext cx="33832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2779776"/>
            <a:ext cx="64008" cy="5669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50992" y="28254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Platform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50992" y="30358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Web App (Next.js)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0" y="3483864"/>
            <a:ext cx="33832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3483864"/>
            <a:ext cx="6400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50992" y="352958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Pembayaran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650992" y="37398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Midtrans / QRIS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0" y="4187952"/>
            <a:ext cx="3383280" cy="5669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4187952"/>
            <a:ext cx="64008" cy="5669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50992" y="42336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Pengiriman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650992" y="44439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Otomatis via Webhook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Visi, Misi &amp; Keunggulan Utama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8503920" cy="8686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D2FE"/>
                </a:solidFill>
              </a:rPr>
              <a:t>🔭  VISI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61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Menjadi platform penyedia aset digital paling terpercaya dengan pengalaman berbelanja setara brand teknologi raksasa (Apple / Stripe).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</a:rPr>
              <a:t>🎯  MISI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286000"/>
            <a:ext cx="8503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286000"/>
            <a:ext cx="64008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50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1.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39572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Menghadirkan sistem pengiriman produk digital yang 100% otomatis tanpa keterlibatan admin manusia.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3035808"/>
            <a:ext cx="8503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35808"/>
            <a:ext cx="64008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004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2.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1455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Membangun antarmuka web setara produk Silicon Valley — mewah, cepat, dan minimalis.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0040" y="3785616"/>
            <a:ext cx="850392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85616"/>
            <a:ext cx="64008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502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3.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895344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</a:rPr>
              <a:t>Memberikan garansi keamanan dan transparansi harga kepada setiap pelanggan.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Identitas Brand &amp; Design Language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3977640" cy="39319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0" y="548640"/>
            <a:ext cx="2286000" cy="2286000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3977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0040" y="29718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7D2FE"/>
                </a:solidFill>
              </a:rPr>
              <a:t>"Akses Premium, Instan &amp; Elegan."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2834640" cy="27432"/>
          </a:xfrm>
          <a:prstGeom prst="rect">
            <a:avLst/>
          </a:prstGeom>
          <a:solidFill>
            <a:srgbClr val="A5B4FC">
              <a:alpha val="40000"/>
            </a:srgbClr>
          </a:solidFill>
          <a:ln w="12700">
            <a:solidFill>
              <a:srgbClr val="A5B4FC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54787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5B4FC"/>
                </a:solidFill>
              </a:rPr>
              <a:t>Tagline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9144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Palet Warna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0" y="1353312"/>
            <a:ext cx="502920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138074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#6366f1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1600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Primary — Indigo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011680"/>
            <a:ext cx="502920" cy="47548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20391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#f43f5e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2258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Accent — Rose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2670048"/>
            <a:ext cx="502920" cy="4754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26974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#0f172a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29169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Background — Deep Slate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383280"/>
            <a:ext cx="42976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4747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Tipografi &amp; Tema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840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🌙  Tema: Dark Mode Premium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0" y="413308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✍️   Font: Inter / Outfit (Sans-serif Geometris)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0" y="442569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✨  Animasi: Morphing Cards (Framer Motion)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0" y="471830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🪟  Efek: Glassmorphism (backdrop-filter blur)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Perkenalan Tim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3 anggota dengan peran spesifik yang saling melengkapi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78892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788920" cy="502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5331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FE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257300" y="1554480"/>
            <a:ext cx="914400" cy="9144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57300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9768" y="25786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Anggota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" y="29077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18CF8"/>
                </a:solidFill>
              </a:rPr>
              <a:t>Business Strategist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218688"/>
            <a:ext cx="22402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31012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Riset pasar &amp; kompetitor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4632" y="3657600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Menyusun Business Model Canvas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4632" y="400507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Menetapkan harga &amp; margin produk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" y="435254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Strategi pemasaran &amp; branding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64408" y="1325880"/>
            <a:ext cx="278892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1325880"/>
            <a:ext cx="278892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01568" y="135331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FE"/>
                </a:solidFill>
              </a:rPr>
              <a:t>02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201668" y="1554480"/>
            <a:ext cx="914400" cy="9144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01668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74136" y="25786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Anggota 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374136" y="29077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B5FD"/>
                </a:solidFill>
              </a:rPr>
              <a:t>Frontend Developer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38728" y="3218688"/>
            <a:ext cx="22402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31012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Desain &amp; implementasi UI/UX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29000" y="3657600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Setup Next.js &amp; Framer Motion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9000" y="400507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Landing Page, Katalog, Dashboard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29000" y="435254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Pastikan tampilan mewah &amp; responsif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08776" y="1325880"/>
            <a:ext cx="278892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08776" y="1325880"/>
            <a:ext cx="2788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45936" y="135331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7D2FE"/>
                </a:solidFill>
              </a:rPr>
              <a:t>03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146036" y="1554480"/>
            <a:ext cx="914400" cy="9144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146036" y="15544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318504" y="25786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Anggota 3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18504" y="290779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DD3FC"/>
                </a:solidFill>
              </a:rPr>
              <a:t>Backend Developer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83096" y="3218688"/>
            <a:ext cx="2240280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3310128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Setup Supabase &amp; skema DB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73368" y="3657600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Integrasi Midtrans + Webhook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73368" y="4005072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Logika pengiriman kode otomatis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73368" y="4352544"/>
            <a:ext cx="2532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Deploy ke Vercel &amp;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Katalog Produk Digital (Fase 1)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5 produk dengan permintaan tinggi di kalangan mahasiswa &amp; profesional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1148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64008" cy="12344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417320"/>
            <a:ext cx="1737360" cy="237744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17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🧠 Produktivitas &amp; AI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1097280" cy="2377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417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Rp 25.000/bln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1728216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🎨 Canva Pro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" y="1728216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Team / Lifetime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07568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👥 Mahasiswa, Desainer, UMKM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227685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📦 Link Invite via Email/Dashboard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41148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25880"/>
            <a:ext cx="64008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0328" y="1417320"/>
            <a:ext cx="1737360" cy="237744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141732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🧠 Produktivitas &amp; AI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35240" y="1417320"/>
            <a:ext cx="1097280" cy="2377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35240" y="1417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Rp 50.000/bln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10328" y="1728216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🤖 ChatGPT Plus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0328" y="1728216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Sharing 1 Bulan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0328" y="207568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👥 Programmer, Copywriter, Pelajar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10328" y="227685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📦 Username &amp; Password via Dashboard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715768"/>
            <a:ext cx="41148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715768"/>
            <a:ext cx="64008" cy="12344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2807208"/>
            <a:ext cx="1737360" cy="237744"/>
          </a:xfrm>
          <a:prstGeom prst="rect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28072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🎵 Hiburan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0" y="2807208"/>
            <a:ext cx="1097280" cy="2377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28072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Rp 20.000/bln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5488" y="3118104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🎵 Spotify Premium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5488" y="3118104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Individual 1 Bulan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" y="346557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👥 Gen Z &amp; Milenial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" y="366674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📦 Invite Link Familia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715768"/>
            <a:ext cx="41148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715768"/>
            <a:ext cx="64008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0328" y="2807208"/>
            <a:ext cx="1737360" cy="237744"/>
          </a:xfrm>
          <a:prstGeom prst="rect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28072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▶️ Hiburan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635240" y="2807208"/>
            <a:ext cx="1097280" cy="2377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35240" y="28072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Rp 18.000/bln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910328" y="3118104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▶️ YouTube Premium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910328" y="3118104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1 Bulan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10328" y="3465576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👥 Pelajar &amp; Umum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910328" y="366674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📦 Invite Link Familia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377440" y="4105656"/>
            <a:ext cx="411480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377440" y="4105656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32888" y="4197096"/>
            <a:ext cx="1737360" cy="237744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32888" y="419709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📚 Pendidikan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257800" y="4197096"/>
            <a:ext cx="1097280" cy="237744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2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7800" y="41970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E7B7"/>
                </a:solidFill>
              </a:rPr>
              <a:t>Rp 15.000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32888" y="450799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📘 Notion Bundle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2532888" y="4507992"/>
            <a:ext cx="3858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"Ultimate Brain"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2532888" y="485546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👥 Mahasiswa, Pekerja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532888" y="50566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📦 File PDF + Link Duplikasi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Target Pasar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816352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3931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14400"/>
            <a:ext cx="2816352" cy="960120"/>
          </a:xfrm>
          <a:prstGeom prst="rect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14400"/>
            <a:ext cx="281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🎓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Mahasiswa &amp; Pelajar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2377440"/>
            <a:ext cx="2587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Butuh tools premium seperti Canva, ChatGPT, Notion untuk tugas &amp; produktivitas, namun budget sangat terbatas.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200400"/>
            <a:ext cx="2542032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9184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Key Insights: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584448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Populasi &gt;8 juta mahasiswa di Indonesia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904488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Pengguna aktif media sosial &amp; teknologi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4224528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Sangat sensitif harga, cari alternatif murah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46120" y="914400"/>
            <a:ext cx="2816352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914400"/>
            <a:ext cx="64008" cy="3931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914400"/>
            <a:ext cx="2816352" cy="960120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914400"/>
            <a:ext cx="281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💻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383280" y="1965960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Pekerja Kreatif &amp; Programmer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2377440"/>
            <a:ext cx="2587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Membutuhkan akses cepat ke platform berbayar (ChatGPT Plus, Canva Pro) untuk mendukung pekerjaan sehari-hari.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83280" y="3200400"/>
            <a:ext cx="2542032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29184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</a:rPr>
              <a:t>Key Insights: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3584448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Pendapatan lebih tinggi, lebih berani bayar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3904488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Prioritas kecepatan &amp; kemudahan akses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0" y="4224528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Loyal jika produk berkualitas &amp; terpercaya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914400"/>
            <a:ext cx="2816352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914400"/>
            <a:ext cx="64008" cy="39319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914400"/>
            <a:ext cx="2816352" cy="960120"/>
          </a:xfrm>
          <a:prstGeom prst="rect">
            <a:avLst/>
          </a:prstGeom>
          <a:solidFill>
            <a:srgbClr val="F43F5E">
              <a:alpha val="25000"/>
            </a:srgbClr>
          </a:solidFill>
          <a:ln w="12700">
            <a:solidFill>
              <a:srgbClr val="F43F5E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0" y="914400"/>
            <a:ext cx="28163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355080" y="1965960"/>
            <a:ext cx="2587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 Z &amp; Milenial (Hiburan)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55080" y="2377440"/>
            <a:ext cx="2587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Pengguna aktif Spotify dan YouTube Premium yang ingin menikmati konten tanpa iklan dengan harga sangat terjangkau.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55080" y="3200400"/>
            <a:ext cx="2542032" cy="274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55080" y="3291840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DA4AF"/>
                </a:solidFill>
              </a:rPr>
              <a:t>Key Insights: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55080" y="3584448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Segmen terbesar pengguna streaming digital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55080" y="3904488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Terbiasa belanja online &amp; pembayaran digital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55080" y="4224528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• Word-of-mouth sangat kuat antar komunitas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Unique Selling Proposition (USP)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943600" y="731520"/>
            <a:ext cx="4114800" cy="4114800"/>
          </a:xfrm>
          <a:prstGeom prst="ellipse">
            <a:avLst/>
          </a:prstGeom>
          <a:solidFill>
            <a:srgbClr val="6366F1">
              <a:alpha val="8000"/>
            </a:srgbClr>
          </a:solidFill>
          <a:ln w="12700">
            <a:solidFill>
              <a:srgbClr val="6366F1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Yang membuat Aura Digital BERBEDA dari kompetitor: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85039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25880"/>
            <a:ext cx="64008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435608"/>
            <a:ext cx="566928" cy="566928"/>
          </a:xfrm>
          <a:prstGeom prst="ellipse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35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70432" y="13990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Pengiriman Instan 1 Detik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70432" y="172821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Bayar sukses via Midtrans → Webhook aktif → Kode/Link langsung muncul di dashboard. Nol interaksi admin manusia.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240280"/>
            <a:ext cx="85039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240280"/>
            <a:ext cx="64008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" y="2350008"/>
            <a:ext cx="566928" cy="566928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3500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💎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170432" y="23134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Desain Premium Mewah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264261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Dark mode bernuansa Indigo &amp; Deep Slate dengan animasi Morphing halus. User merasa berbelanja di platform kelas dunia.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85039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54680"/>
            <a:ext cx="6400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3264408"/>
            <a:ext cx="566928" cy="566928"/>
          </a:xfrm>
          <a:prstGeom prst="ellipse">
            <a:avLst/>
          </a:prstGeom>
          <a:solidFill>
            <a:srgbClr val="0891B2">
              <a:alpha val="22000"/>
            </a:srgbClr>
          </a:solidFill>
          <a:ln w="12700">
            <a:solidFill>
              <a:srgbClr val="0891B2">
                <a:alpha val="2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264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70432" y="32278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100% Sistem Otomatis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70432" y="355701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Dari pembayaran, verifikasi, hingga distribusi kode — semuanya dihandle oleh sistem. Skalabel tanpa tambah SDM.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20040" y="4069080"/>
            <a:ext cx="850392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4069080"/>
            <a:ext cx="6400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" y="4178808"/>
            <a:ext cx="566928" cy="566928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2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1788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70432" y="41422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Garansi Anti-Hold &amp; Aman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70432" y="447141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Menggunakan Payment Gateway resmi (Midtrans), bukan transfer rekening pribadi. Ada garansi replace jika akun bermasalah.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Business Model Canvas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2834640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64008" cy="12984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Customer Segments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" y="1335024"/>
            <a:ext cx="2514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408176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Mahasiswa &amp; pelajar, profesional tech (programmer/desainer), Gen Z pengguna streaming.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914400"/>
            <a:ext cx="2834640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914400"/>
            <a:ext cx="6400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2424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Value Propositions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92424" y="1335024"/>
            <a:ext cx="2514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92424" y="1408176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Pengiriman instan tanpa admin, antarmuka setara Apple, garansi replace jika akun bermasalah.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9632" y="914400"/>
            <a:ext cx="2834640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99632" y="914400"/>
            <a:ext cx="64008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10058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Channels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64224" y="1335024"/>
            <a:ext cx="2514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1408176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TikTok &amp; Instagram Reels, word-of-mouth antar mahasiswa, web e-commerce langsung.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359152"/>
            <a:ext cx="2834640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359152"/>
            <a:ext cx="64008" cy="12984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4505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Customer Relations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0624" y="2779776"/>
            <a:ext cx="2514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2852928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Self-service penuh melalui Dashboard User, grup Telegram/WA untuk support &amp; komplain.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27832" y="2359152"/>
            <a:ext cx="2834640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27832" y="2359152"/>
            <a:ext cx="64008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2424" y="24505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Revenue Streams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92424" y="2779776"/>
            <a:ext cx="2514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92424" y="2852928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Margin dari sharing account (beli Family Plan, jual per slot), penjualan bundle template (modal 0).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99632" y="2359152"/>
            <a:ext cx="2834640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9632" y="2359152"/>
            <a:ext cx="64008" cy="12984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24505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6. Key Resources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64224" y="2779776"/>
            <a:ext cx="2514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64224" y="2852928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Platform web (Vercel + Supabase), Midtrans gateway, stok akun dari distributor terpercaya.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" y="3803904"/>
            <a:ext cx="2834640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" y="3803904"/>
            <a:ext cx="6400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0624" y="3895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7. Key Activities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20624" y="4224528"/>
            <a:ext cx="2514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429768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Menjaga uptime server, restock kode lisensi ke database, menangani komplain akun bermasalah.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27832" y="3803904"/>
            <a:ext cx="2834640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27832" y="3803904"/>
            <a:ext cx="64008" cy="12984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92424" y="3895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8. Key Partnerships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92424" y="4224528"/>
            <a:ext cx="2514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92424" y="429768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Midtrans (payment), Vercel (hosting), pemasok akun premium (supplier/distributor).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99632" y="3803904"/>
            <a:ext cx="2834640" cy="12984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99632" y="3803904"/>
            <a:ext cx="64008" cy="12984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64224" y="3895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9. Cost Structure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364224" y="4224528"/>
            <a:ext cx="2514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64224" y="4297680"/>
            <a:ext cx="257860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Fee gateway per transaksi, modal beli akun Family/Premium bulanan. Platform hosting gratis (free tier).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Model Pendapatan (Revenue Streams)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Bagaimana Aura Digital menghasilkan keuntungan?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16052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416052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💰  Stream 1: Sharing Account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3852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Beli Family/Team Plan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193852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Rp 80.000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05456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Dibagi ke 5 slot user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50545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@ Rp 25.000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72384"/>
            <a:ext cx="384048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7238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Total Pemasukan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834640" y="307238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Rp 125.000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3840480" cy="475488"/>
          </a:xfrm>
          <a:prstGeom prst="rect">
            <a:avLst/>
          </a:prstGeom>
          <a:solidFill>
            <a:srgbClr val="2D201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3931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Profit per siklus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3639312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Rp 45.000 (56%)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Contoh: Spotify Premium Family Plan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280160"/>
            <a:ext cx="4069080" cy="3520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280160"/>
            <a:ext cx="406908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2801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📦  Stream 2: Bundle Template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92040" y="1938528"/>
            <a:ext cx="37490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9385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Modal Produksi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58000" y="193852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Rp 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92040" y="2505456"/>
            <a:ext cx="37490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50545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Harga Jual / Template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2505456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Rp 15.000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92040" y="3072384"/>
            <a:ext cx="3749040" cy="475488"/>
          </a:xfrm>
          <a:prstGeom prst="rect">
            <a:avLst/>
          </a:prstGeom>
          <a:solidFill>
            <a:srgbClr val="0D2B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07238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Profit Margin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307238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100%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92040" y="3639312"/>
            <a:ext cx="3749040" cy="475488"/>
          </a:xfrm>
          <a:prstGeom prst="rect">
            <a:avLst/>
          </a:prstGeom>
          <a:solidFill>
            <a:srgbClr val="0D2B1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63931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Potensi Pasif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58000" y="363931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EE7B7"/>
                </a:solidFill>
              </a:rPr>
              <a:t>Tak Terbatas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4251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Contoh: Notion Ultimate Brain Bundle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Analisis Kompetitor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18745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0896" y="914400"/>
            <a:ext cx="1801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Aspek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76272" y="914400"/>
            <a:ext cx="2377440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31136" y="914400"/>
            <a:ext cx="23042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Penjual Gelap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(IG/Twitter)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90288" y="914400"/>
            <a:ext cx="2340864" cy="530352"/>
          </a:xfrm>
          <a:prstGeom prst="rect">
            <a:avLst/>
          </a:prstGeom>
          <a:solidFill>
            <a:srgbClr val="37415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5152" y="914400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Marketplace Besar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(Itemku)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67728" y="914400"/>
            <a:ext cx="2084832" cy="530352"/>
          </a:xfrm>
          <a:prstGeom prst="rect">
            <a:avLst/>
          </a:prstGeom>
          <a:solidFill>
            <a:srgbClr val="4F46E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22592" y="91440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✨ Aura Digital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481328"/>
            <a:ext cx="18745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0896" y="148132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Kepercayaan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76272" y="1481328"/>
            <a:ext cx="2377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1136" y="148132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❌ Rawan penipuan,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transfer manual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90288" y="1481328"/>
            <a:ext cx="2340864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45152" y="148132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✅ Sistem escrow,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dana ditahan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67728" y="1481328"/>
            <a:ext cx="208483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148132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✅ Payment Gateway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resmi (Midtrans)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084832"/>
            <a:ext cx="18745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2084832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Kecepatan Kirim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176272" y="2084832"/>
            <a:ext cx="2377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31136" y="20848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❌ Tunggu admin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bisa berjam-jam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90288" y="2084832"/>
            <a:ext cx="2340864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2084832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⚠️ Tergantung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penjual masing-masing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967728" y="2084832"/>
            <a:ext cx="208483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22592" y="2084832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✅ Otomatis 1 detik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setelah bayar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6032" y="2688336"/>
            <a:ext cx="18745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0896" y="268833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UI/UX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176272" y="2688336"/>
            <a:ext cx="2377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31136" y="268833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❌ Tidak ada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website/app formal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90288" y="2688336"/>
            <a:ext cx="2340864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45152" y="2688336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⚠️ Ramai &amp; kompleks,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bingungkan user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67728" y="2688336"/>
            <a:ext cx="208483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22592" y="2688336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✅ Minimalist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mewah ala Apple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6032" y="3291840"/>
            <a:ext cx="18745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32918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Harga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176272" y="3291840"/>
            <a:ext cx="2377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31136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✅ Sangat murah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(tapi berisiko)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90288" y="3291840"/>
            <a:ext cx="2340864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45152" y="3291840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⚠️ Fee admin besar,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harga tinggi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967728" y="3291840"/>
            <a:ext cx="208483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22592" y="32918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✅ Kompetitif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transparent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3895344"/>
            <a:ext cx="18745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" y="389534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Transparansi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176272" y="3895344"/>
            <a:ext cx="2377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31136" y="38953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❌ Tidak ada invoice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/ bukti resmi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90288" y="3895344"/>
            <a:ext cx="2340864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45152" y="3895344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⚠️ Ada namun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rumit bagi awam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67728" y="3895344"/>
            <a:ext cx="208483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22592" y="3895344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✅ Invoice otomatis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via email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6032" y="4498848"/>
            <a:ext cx="187452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10896" y="44988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Garansi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176272" y="4498848"/>
            <a:ext cx="237744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31136" y="44988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❌ Tidak ada, admin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sering hilang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590288" y="4498848"/>
            <a:ext cx="2340864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45152" y="4498848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⚠️ Ada tapi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proses panjang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967728" y="4498848"/>
            <a:ext cx="2084832" cy="548640"/>
          </a:xfrm>
          <a:prstGeom prst="rect">
            <a:avLst/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22592" y="4498848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✅ Garansi replace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5B4FC"/>
                </a:solidFill>
              </a:rPr>
              <a:t>auto dalam sistem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Arsitektur: User Flow Pembelian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Pengalaman berbelanja yang dirancang sesederhana 3 klik utama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060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2606040" cy="475488"/>
          </a:xfrm>
          <a:prstGeom prst="rect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" y="1399032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" y="18928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Landing Page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" y="22402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User melihat katalog produk &amp; promo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71800" y="1947672"/>
            <a:ext cx="246888" cy="164592"/>
          </a:xfrm>
          <a:prstGeom prst="rect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18688" y="1325880"/>
            <a:ext cx="26060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325880"/>
            <a:ext cx="2606040" cy="475488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399032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46704" y="18928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Pilih Produk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46704" y="22402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Klik card produk → detail &amp; harga muncul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24728" y="1947672"/>
            <a:ext cx="246888" cy="164592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325880"/>
            <a:ext cx="26060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1325880"/>
            <a:ext cx="2606040" cy="475488"/>
          </a:xfrm>
          <a:prstGeom prst="rect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44768" y="1399032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44768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99632" y="189280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Checkout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99632" y="224028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Isi email saja, tidak perlu daftar akun dulu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017520"/>
            <a:ext cx="26060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017520"/>
            <a:ext cx="2606040" cy="475488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" y="3090672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" y="3584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Bayar QRIS/Midtrans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" y="39319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Scan QR atau transfer via gateway resmi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971800" y="3639312"/>
            <a:ext cx="246888" cy="164592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18688" y="3017520"/>
            <a:ext cx="26060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18688" y="3017520"/>
            <a:ext cx="2606040" cy="47548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309067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46704" y="3584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Midtrans Webhook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46704" y="39319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Notifikasi 'success' dikirim ke server Next.js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24728" y="3639312"/>
            <a:ext cx="246888" cy="164592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71616" y="3017520"/>
            <a:ext cx="2606040" cy="1417320"/>
          </a:xfrm>
          <a:prstGeom prst="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71616" y="3017520"/>
            <a:ext cx="2606040" cy="475488"/>
          </a:xfrm>
          <a:prstGeom prst="rect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44768" y="3090672"/>
            <a:ext cx="347472" cy="34747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44768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199632" y="35844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Kode Keluar Otomatis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199632" y="39319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Secret code diambil dari digital_vault → tampil di Dashboard ⚡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416552" y="2743200"/>
            <a:ext cx="164592" cy="27432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Tech Stack &amp; Skema Database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Tech Stack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40233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64008" cy="6217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074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Frontend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Next.js 14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React framework + App Router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057400"/>
            <a:ext cx="40233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57400"/>
            <a:ext cx="64008" cy="62179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122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Animasi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331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Framer Motion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Morphing cards &amp; smooth scroll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40233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88920"/>
            <a:ext cx="64008" cy="6217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437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Database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Supabase (PostgreSQL)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3063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Auth bawaan + Realtime DB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520440"/>
            <a:ext cx="40233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520440"/>
            <a:ext cx="64008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753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Payment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Midtrans + Webhook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3794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QRIS, VA, kartu kredit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251960"/>
            <a:ext cx="402336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251960"/>
            <a:ext cx="64008" cy="6217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30682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Hosting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4526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Vercel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43200" y="4526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Free tier, CI/CD otomatis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09160" y="896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Skema Database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709160" y="1325880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1325880"/>
            <a:ext cx="64008" cy="8046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1399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users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64608" y="16733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id (PK)  ·  email  ·  created_at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64608" y="18928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18CF8"/>
                </a:solidFill>
              </a:rPr>
              <a:t>Diatur otomatis oleh Supabase Auth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258568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2258568"/>
            <a:ext cx="64008" cy="8046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64608" y="2331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products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64608" y="26060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id  ·  name  ·  price  ·  category  ·  image_url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64608" y="28254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4B5FD"/>
                </a:solidFill>
              </a:rPr>
              <a:t>Katalog etalase produk digital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3191256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191256"/>
            <a:ext cx="64008" cy="8046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3264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digital_vault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64608" y="35387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id  ·  product_id  ·  secret_code  ·  is_claimed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64608" y="37581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DA4AF"/>
                </a:solidFill>
              </a:rPr>
              <a:t>🔒 Tabel rahasia stok kode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09160" y="4123944"/>
            <a:ext cx="4114800" cy="8046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4123944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64608" y="4197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📋 orders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64608" y="44714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order_id  ·  user_id  ·  product_id  ·  payment_status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64608" y="4690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E7B7"/>
                </a:solidFill>
              </a:rPr>
              <a:t>Dipicu oleh Webhook Midtrans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Logika Otomatisasi Pengiriman Kode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Inti dari keunggulan Aura Digital — sistem berjalan sendiri tanpa admin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85039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53312"/>
            <a:ext cx="347472" cy="3474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53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2984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 Bayar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584448" y="1463040"/>
            <a:ext cx="27432" cy="1280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2984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Pembayaran via QRIS / Virtual Account melalui Midtrans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9496" y="1792224"/>
            <a:ext cx="54864" cy="91440"/>
          </a:xfrm>
          <a:prstGeom prst="rect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883664"/>
            <a:ext cx="85039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" y="1975104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1920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Midtrans Kirim Webhook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584448" y="2084832"/>
            <a:ext cx="27432" cy="1280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19202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Notifikasi POST request 'payment_status: success' ke server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39496" y="2414016"/>
            <a:ext cx="54864" cy="91440"/>
          </a:xfrm>
          <a:prstGeom prst="rect">
            <a:avLst/>
          </a:prstGeom>
          <a:solidFill>
            <a:srgbClr val="8B5CF6">
              <a:alpha val="40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505456"/>
            <a:ext cx="85039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" y="2596896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5968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25420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Server Next.js Proses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84448" y="2706624"/>
            <a:ext cx="27432" cy="1280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2542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API Route menerima webhook, verifikasi signature Midtrans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39496" y="3035808"/>
            <a:ext cx="54864" cy="91440"/>
          </a:xfrm>
          <a:prstGeom prst="rect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127248"/>
            <a:ext cx="85039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84048" y="3218688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68680" y="316382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Update Tabel orders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584448" y="3328416"/>
            <a:ext cx="27432" cy="1280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1638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payment_status diubah dari 'pending' → 'success' di Supabase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39496" y="3657600"/>
            <a:ext cx="54864" cy="91440"/>
          </a:xfrm>
          <a:prstGeom prst="rect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" y="3749040"/>
            <a:ext cx="85039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84048" y="3840480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840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" y="37856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Ambil Kode dari digital_vault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584448" y="3950208"/>
            <a:ext cx="27432" cy="1280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37856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Query baris dengan is_claimed = false → ambil secret_code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39496" y="4279392"/>
            <a:ext cx="54864" cy="91440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370832"/>
            <a:ext cx="850392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84048" y="4462272"/>
            <a:ext cx="347472" cy="347472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462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68680" y="4407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Kode Tampil di Dashboard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584448" y="4572000"/>
            <a:ext cx="27432" cy="12801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0" y="440740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is_claimed → true, kode ditampilkan ke user. ⚡ Selesai!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Rencana Minggu ke-2: Eksekusi Kode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Minggu ke-1 selesai: perencanaan matang. Minggu ke-2: mulai build!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85039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64008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371600"/>
            <a:ext cx="1463040" cy="594360"/>
          </a:xfrm>
          <a:prstGeom prst="rect">
            <a:avLst/>
          </a:prstGeom>
          <a:solidFill>
            <a:srgbClr val="6366F1">
              <a:alpha val="22000"/>
            </a:srgbClr>
          </a:solidFill>
          <a:ln w="12700">
            <a:solidFill>
              <a:srgbClr val="6366F1">
                <a:alpha val="22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716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Anggota 1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Business Strategist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84832" y="1316736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Finalisasi struktur harga &amp; margin tiap produk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Riset &amp; hubungi 3 supplier/distributor akun premium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84832" y="1700784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• Buat konten awal TikTok &amp; IG untuk awareness brand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• Siapkan copy teks landing page &amp; katalog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231136"/>
            <a:ext cx="85039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31136"/>
            <a:ext cx="64008" cy="8229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2340864"/>
            <a:ext cx="1463040" cy="594360"/>
          </a:xfrm>
          <a:prstGeom prst="rect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340864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Anggota 2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Frontend Developer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84832" y="2286000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Inisiasi project Next.js 14 + install Framer Motion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Build komponen Landing Page (Hero, Katalog, CTA)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84832" y="267004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• Buat Halaman Checkout &amp; Dashboard User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• Implementasi animasi Morphing Card &amp; Glassmorphism navbar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200400"/>
            <a:ext cx="85039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200400"/>
            <a:ext cx="64008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3310128"/>
            <a:ext cx="1463040" cy="594360"/>
          </a:xfrm>
          <a:prstGeom prst="rect">
            <a:avLst/>
          </a:prstGeom>
          <a:solidFill>
            <a:srgbClr val="0891B2">
              <a:alpha val="22000"/>
            </a:srgbClr>
          </a:solidFill>
          <a:ln w="12700">
            <a:solidFill>
              <a:srgbClr val="0891B2">
                <a:alpha val="22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310128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Anggota 3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Backend Developer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084832" y="325526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Setup project Supabase, buat 4 tabel DB sesuai ERD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Konfigurasi Supabase Auth (login via email/magic link)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84832" y="363931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• Integrasi Midtrans Sandbox + buat API Route Webhook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• Test flow end-to-end: bayar → kode keluar di dashboard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169664"/>
            <a:ext cx="850392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4169664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4279392"/>
            <a:ext cx="1463040" cy="594360"/>
          </a:xfrm>
          <a:prstGeom prst="rect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>
                <a:alpha val="2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4279392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Semua Tim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Kolaborasi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84832" y="422452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Daily standup singkat (15 menit via WhatsApp/Discord)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• Review progress bersama di akhir minggu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084832" y="4608576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• Deploy versi awal ke Vercel untuk demo dosen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5029200" cy="5029200"/>
          </a:xfrm>
          <a:prstGeom prst="ellipse">
            <a:avLst/>
          </a:prstGeom>
          <a:solidFill>
            <a:srgbClr val="6366F1">
              <a:alpha val="12000"/>
            </a:srgbClr>
          </a:solidFill>
          <a:ln w="12700">
            <a:solidFill>
              <a:srgbClr val="6366F1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926080"/>
            <a:ext cx="3657600" cy="3657600"/>
          </a:xfrm>
          <a:prstGeom prst="ellipse">
            <a:avLst/>
          </a:prstGeom>
          <a:solidFill>
            <a:srgbClr val="F43F5E">
              <a:alpha val="12000"/>
            </a:srgbClr>
          </a:solidFill>
          <a:ln w="12700">
            <a:solidFill>
              <a:srgbClr val="F43F5E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8B5CF6">
              <a:alpha val="10000"/>
            </a:srgbClr>
          </a:solidFill>
          <a:ln w="12700">
            <a:solidFill>
              <a:srgbClr val="8B5CF6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Kasih!</a:t>
            </a:r>
            <a:endParaRPr lang="en-US" sz="5600" dirty="0"/>
          </a:p>
        </p:txBody>
      </p:sp>
      <p:sp>
        <p:nvSpPr>
          <p:cNvPr id="6" name="Shape 4"/>
          <p:cNvSpPr/>
          <p:nvPr/>
        </p:nvSpPr>
        <p:spPr>
          <a:xfrm>
            <a:off x="2743200" y="2194560"/>
            <a:ext cx="3657600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818CF8"/>
                </a:solidFill>
              </a:rPr>
              <a:t>"Akses Premium, Instan &amp; Elegan."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94A3B8"/>
                </a:solidFill>
              </a:rPr>
              <a:t>AURA DIGITAL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3611880"/>
            <a:ext cx="182880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✅ Branding Selesai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96896" y="3611880"/>
            <a:ext cx="182880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✅ BMC Selesai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26864" y="3611880"/>
            <a:ext cx="1828800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✅ Arsitektur Selesai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56832" y="3611880"/>
            <a:ext cx="18288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36118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🚀 Siap Coding!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4224528"/>
            <a:ext cx="2743200" cy="4572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422452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Ada Pertanyaan?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Progress Minggu ke-1  •  Mata Kuliah E-Business  •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Aura Digital — Laporan Progress Minggu 1</dc:title>
  <dc:subject>PptxGenJS Presentation</dc:subject>
  <dc:creator>PptxGenJS</dc:creator>
  <cp:lastModifiedBy>PptxGenJS</cp:lastModifiedBy>
  <cp:revision>1</cp:revision>
  <dcterms:created xsi:type="dcterms:W3CDTF">2026-04-12T10:45:39Z</dcterms:created>
  <dcterms:modified xsi:type="dcterms:W3CDTF">2026-04-12T10:45:39Z</dcterms:modified>
</cp:coreProperties>
</file>